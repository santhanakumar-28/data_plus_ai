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6B6D4"/>
                </a:solidFill>
              </a:defRPr>
            </a:pPr>
            <a:r>
              <a:t>DataPulse AI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Intelligent Data Pipeline Monitoring, Anomaly Detection &amp; Root Cause Analysis</a:t>
            </a:r>
          </a:p>
          <a:p>
            <a:pPr>
              <a:spcBef>
                <a:spcPts val="2800"/>
              </a:spcBef>
              <a:defRPr sz="1400">
                <a:solidFill>
                  <a:srgbClr val="94A3B8"/>
                </a:solidFill>
              </a:defRPr>
            </a:pPr>
            <a:r>
              <a:t>ExaThon India 2026 — Track 04: The Work Behind the Work</a:t>
            </a:r>
            <a:br/>
            <a:r>
              <a:t>Primary Database Engine: Exasol Personal Edition (2026.2.0-nano.3)</a:t>
            </a:r>
            <a:br/>
            <a:r>
              <a:t>License: MIT Open Source | Public GitHub Ready</a:t>
            </a:r>
          </a:p>
          <a:p>
            <a:pPr>
              <a:spcBef>
                <a:spcPts val="2000"/>
              </a:spcBef>
              <a:defRPr sz="1600" i="1">
                <a:solidFill>
                  <a:srgbClr val="10B981"/>
                </a:solidFill>
              </a:defRPr>
            </a:pPr>
            <a:r>
              <a:t>“Predict failures. Explain incidents. Protect business data.”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EXATHON INDIA 2026 — TRACK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Problem: The Silent Pipeline Crisis Behind Modern Data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1500">
                <a:solidFill>
                  <a:srgbClr val="06B6D4"/>
                </a:solidFill>
              </a:defRPr>
            </a:pPr>
            <a:r>
              <a:t>•  Fragmented Operational Observability: </a:t>
            </a:r>
            <a:r>
              <a:rPr b="0" sz="1400">
                <a:solidFill>
                  <a:srgbClr val="94A3B8"/>
                </a:solidFill>
              </a:rPr>
              <a:t>Execution logs, error stacks, data quality audits, and lineage chains live in disconnected tools. Data engineers spend 60% of incident time collecting context instead of fixing problems.</a:t>
            </a:r>
          </a:p>
          <a:p>
            <a:pPr>
              <a:spcBef>
                <a:spcPts val="1400"/>
              </a:spcBef>
              <a:defRPr b="1" sz="1500">
                <a:solidFill>
                  <a:srgbClr val="06B6D4"/>
                </a:solidFill>
              </a:defRPr>
            </a:pPr>
            <a:r>
              <a:t>•  Silent Data Quality Degradation: </a:t>
            </a:r>
            <a:r>
              <a:rPr b="0" sz="1400">
                <a:solidFill>
                  <a:srgbClr val="94A3B8"/>
                </a:solidFill>
              </a:rPr>
              <a:t>Pipelines often exit with status 'SUCCESS' while producing 80% null values, schema drifts, or stale records. Downstream consumers and CFO dashboards get corrupted undetected.</a:t>
            </a:r>
          </a:p>
          <a:p>
            <a:pPr>
              <a:spcBef>
                <a:spcPts val="1400"/>
              </a:spcBef>
              <a:defRPr b="1" sz="1500">
                <a:solidFill>
                  <a:srgbClr val="06B6D4"/>
                </a:solidFill>
              </a:defRPr>
            </a:pPr>
            <a:r>
              <a:t>•  Investigation Fatigue &amp; Long MTTR: </a:t>
            </a:r>
            <a:r>
              <a:rPr b="0" sz="1400">
                <a:solidFill>
                  <a:srgbClr val="94A3B8"/>
                </a:solidFill>
              </a:rPr>
              <a:t>When executive BI dashboards show discrepancies, senior engineers spend 3–5 hours manually grepping logs and hunting upstream dependencies to find the root cause.</a:t>
            </a:r>
          </a:p>
          <a:p>
            <a:pPr>
              <a:spcBef>
                <a:spcPts val="1400"/>
              </a:spcBef>
              <a:defRPr b="1" sz="1500">
                <a:solidFill>
                  <a:srgbClr val="06B6D4"/>
                </a:solidFill>
              </a:defRPr>
            </a:pPr>
            <a:r>
              <a:t>•  Unknown Downstream Blast Radius: </a:t>
            </a:r>
            <a:r>
              <a:rPr b="0" sz="1400">
                <a:solidFill>
                  <a:srgbClr val="94A3B8"/>
                </a:solidFill>
              </a:rPr>
              <a:t>Teams cannot immediately quantify which business reports, regulatory models, or customer-facing APIs are contaminated when an intermediate pipeline fails.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EXATHON INDIA 2026 — TRACK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Solution: DataPulse AI Observability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500">
                <a:solidFill>
                  <a:srgbClr val="10B981"/>
                </a:solidFill>
              </a:defRPr>
            </a:pPr>
            <a:r>
              <a:t>•  Unified Observability in Exasol Personal: </a:t>
            </a:r>
            <a:r>
              <a:rPr b="0" sz="1400">
                <a:solidFill>
                  <a:srgbClr val="94A3B8"/>
                </a:solidFill>
              </a:rPr>
              <a:t>All operational telemetry, quality checks, dependencies, predictions, and incident audit trails are centralized in Exasol Personal schema DATAPULSE.</a:t>
            </a:r>
          </a:p>
          <a:p>
            <a:pPr>
              <a:spcBef>
                <a:spcPts val="1200"/>
              </a:spcBef>
              <a:defRPr b="1" sz="1500">
                <a:solidFill>
                  <a:srgbClr val="10B981"/>
                </a:solidFill>
              </a:defRPr>
            </a:pPr>
            <a:r>
              <a:t>•  Two-Stage Anomaly Detection Engine: </a:t>
            </a:r>
            <a:r>
              <a:rPr b="0" sz="1400">
                <a:solidFill>
                  <a:srgbClr val="94A3B8"/>
                </a:solidFill>
              </a:rPr>
              <a:t>Combines deterministic operational rules (runtime spikes, completeness drops, freshness SLAs) with Scikit-Learn Isolation Forest multivariate scoring.</a:t>
            </a:r>
          </a:p>
          <a:p>
            <a:pPr>
              <a:spcBef>
                <a:spcPts val="1200"/>
              </a:spcBef>
              <a:defRPr b="1" sz="1500">
                <a:solidFill>
                  <a:srgbClr val="10B981"/>
                </a:solidFill>
              </a:defRPr>
            </a:pPr>
            <a:r>
              <a:t>•  Automated AI Root Cause Analysis (RCA): </a:t>
            </a:r>
            <a:r>
              <a:rPr b="0" sz="1400">
                <a:solidFill>
                  <a:srgbClr val="94A3B8"/>
                </a:solidFill>
              </a:rPr>
              <a:t>Correlates execution metrics against 14-day historical Exasol statistical baselines (Z-scores), detects upstream culprits, and synthesizes remediation checklists.</a:t>
            </a:r>
          </a:p>
          <a:p>
            <a:pPr>
              <a:spcBef>
                <a:spcPts val="1200"/>
              </a:spcBef>
              <a:defRPr b="1" sz="1500">
                <a:solidFill>
                  <a:srgbClr val="10B981"/>
                </a:solidFill>
              </a:defRPr>
            </a:pPr>
            <a:r>
              <a:t>•  Lineage &amp; Blast Radius Calculator: </a:t>
            </a:r>
            <a:r>
              <a:rPr b="0" sz="1400">
                <a:solidFill>
                  <a:srgbClr val="94A3B8"/>
                </a:solidFill>
              </a:rPr>
              <a:t>Traverses directed acyclic graph (DAG) dependencies to predict cascading impacts and calculate a weighted Total Impact Score (0–100) on critical business reports.</a:t>
            </a:r>
          </a:p>
          <a:p>
            <a:pPr>
              <a:spcBef>
                <a:spcPts val="1200"/>
              </a:spcBef>
              <a:defRPr b="1" sz="1500">
                <a:solidFill>
                  <a:srgbClr val="10B981"/>
                </a:solidFill>
              </a:defRPr>
            </a:pPr>
            <a:r>
              <a:t>•  Interactive Disaster Simulator: </a:t>
            </a:r>
            <a:r>
              <a:rPr b="0" sz="1400">
                <a:solidFill>
                  <a:srgbClr val="94A3B8"/>
                </a:solidFill>
              </a:rPr>
              <a:t>Enables judges and engineers to inject realistic production failures (Missing Data, Runtime Delays, Upstream Crashes) and reset database state idempotently.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EXATHON INDIA 2026 — TRACK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Mandatory Core: Exasol Personal Engine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500">
                <a:solidFill>
                  <a:srgbClr val="06B6D4"/>
                </a:solidFill>
              </a:defRPr>
            </a:pPr>
            <a:r>
              <a:t>•  Exclusive Primary Data Engine: </a:t>
            </a:r>
            <a:r>
              <a:rPr b="0" sz="1400">
                <a:solidFill>
                  <a:srgbClr val="94A3B8"/>
                </a:solidFill>
              </a:rPr>
              <a:t>Exasol Personal 2026.2.0-nano.3 on port 8563 is the sole repository for all application data. Zero reliance on PostgreSQL, SQLite, MongoDB, or in-memory mock stores.</a:t>
            </a:r>
          </a:p>
          <a:p>
            <a:pPr>
              <a:spcBef>
                <a:spcPts val="1200"/>
              </a:spcBef>
              <a:defRPr b="1" sz="1500">
                <a:solidFill>
                  <a:srgbClr val="06B6D4"/>
                </a:solidFill>
              </a:defRPr>
            </a:pPr>
            <a:r>
              <a:t>•  Sub-Millisecond Columnar Analytics: </a:t>
            </a:r>
            <a:r>
              <a:rPr b="0" sz="1400">
                <a:solidFill>
                  <a:srgbClr val="94A3B8"/>
                </a:solidFill>
              </a:rPr>
              <a:t>Aggregates 14-day time-series execution trends across thousands of runs in ~1.8 ms latency via PyExasol connection pooling.</a:t>
            </a:r>
          </a:p>
          <a:p>
            <a:pPr>
              <a:spcBef>
                <a:spcPts val="1200"/>
              </a:spcBef>
              <a:defRPr b="1" sz="1500">
                <a:solidFill>
                  <a:srgbClr val="06B6D4"/>
                </a:solidFill>
              </a:defRPr>
            </a:pPr>
            <a:r>
              <a:t>•  Advanced Vectorized SQL Processing: </a:t>
            </a:r>
            <a:r>
              <a:rPr b="0" sz="1400">
                <a:solidFill>
                  <a:srgbClr val="94A3B8"/>
                </a:solidFill>
              </a:rPr>
              <a:t>Executes high-performance CTEs and window functions: ROW_NUMBER() OVER (PARTITION BY pipeline_id ORDER BY start_time DESC) and STDDEV() baselines directly in Exasol.</a:t>
            </a:r>
          </a:p>
          <a:p>
            <a:pPr>
              <a:spcBef>
                <a:spcPts val="1200"/>
              </a:spcBef>
              <a:defRPr b="1" sz="1500">
                <a:solidFill>
                  <a:srgbClr val="06B6D4"/>
                </a:solidFill>
              </a:defRPr>
            </a:pPr>
            <a:r>
              <a:t>•  7 Core Relational Tables: </a:t>
            </a:r>
            <a:r>
              <a:rPr b="0" sz="1400">
                <a:solidFill>
                  <a:srgbClr val="94A3B8"/>
                </a:solidFill>
              </a:rPr>
              <a:t>PIPELINES, PIPELINE_RUNS, DATA_QUALITY, INCIDENTS, PIPELINE_DEPENDENCIES, PREDICTION_RESULTS, AUDIT_EVENTS (with quoted 'ACTION' keyword compliance).</a:t>
            </a:r>
          </a:p>
          <a:p>
            <a:pPr>
              <a:spcBef>
                <a:spcPts val="1200"/>
              </a:spcBef>
              <a:defRPr b="1" sz="1500">
                <a:solidFill>
                  <a:srgbClr val="06B6D4"/>
                </a:solidFill>
              </a:defRPr>
            </a:pPr>
            <a:r>
              <a:t>•  Automated 5-Point Health Protocol: </a:t>
            </a:r>
            <a:r>
              <a:rPr b="0" sz="1400">
                <a:solidFill>
                  <a:srgbClr val="94A3B8"/>
                </a:solidFill>
              </a:rPr>
              <a:t>Verified via backend/scripts/test_exasol.py with 100% pass rate across physical DSN, ping, version metadata, schema tables, and analytical 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EXATHON INDIA 2026 — TRACK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Platform Modules &amp; Full-Stack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400">
                <a:solidFill>
                  <a:srgbClr val="FFFFFF"/>
                </a:solidFill>
              </a:defRPr>
            </a:pPr>
            <a:r>
              <a:t>•  Module 1: Operations Overview: </a:t>
            </a:r>
            <a:r>
              <a:rPr b="0" sz="1300">
                <a:solidFill>
                  <a:srgbClr val="94A3B8"/>
                </a:solidFill>
              </a:rPr>
              <a:t>Executive dashboard with KPIs, 14-day execution trends (Recharts), health donut, and active incident stream.</a:t>
            </a:r>
          </a:p>
          <a:p>
            <a:pPr>
              <a:spcBef>
                <a:spcPts val="800"/>
              </a:spcBef>
              <a:defRPr b="1" sz="1400">
                <a:solidFill>
                  <a:srgbClr val="FFFFFF"/>
                </a:solidFill>
              </a:defRPr>
            </a:pPr>
            <a:r>
              <a:t>•  Module 2: Pipeline Explorer: </a:t>
            </a:r>
            <a:r>
              <a:rPr b="0" sz="1300">
                <a:solidFill>
                  <a:srgbClr val="94A3B8"/>
                </a:solidFill>
              </a:rPr>
              <a:t>Filterable catalog with 50-run telemetry inspection drawer, data quality audits, and lineage connections.</a:t>
            </a:r>
          </a:p>
          <a:p>
            <a:pPr>
              <a:spcBef>
                <a:spcPts val="800"/>
              </a:spcBef>
              <a:defRPr b="1" sz="1400">
                <a:solidFill>
                  <a:srgbClr val="FFFFFF"/>
                </a:solidFill>
              </a:defRPr>
            </a:pPr>
            <a:r>
              <a:t>•  Module 3: Anomaly Radar: </a:t>
            </a:r>
            <a:r>
              <a:rPr b="0" sz="1300">
                <a:solidFill>
                  <a:srgbClr val="94A3B8"/>
                </a:solidFill>
              </a:rPr>
              <a:t>On-demand multivariate detector evaluating runtime, error spikes, null counts, and memory throttling.</a:t>
            </a:r>
          </a:p>
          <a:p>
            <a:pPr>
              <a:spcBef>
                <a:spcPts val="800"/>
              </a:spcBef>
              <a:defRPr b="1" sz="1400">
                <a:solidFill>
                  <a:srgbClr val="FFFFFF"/>
                </a:solidFill>
              </a:defRPr>
            </a:pPr>
            <a:r>
              <a:t>•  Module 4: AI Root Cause Analysis: </a:t>
            </a:r>
            <a:r>
              <a:rPr b="0" sz="1300">
                <a:solidFill>
                  <a:srgbClr val="94A3B8"/>
                </a:solidFill>
              </a:rPr>
              <a:t>Automated incident investigation engine with multi-table evidence points, Z-score deviations, and remediation actions.</a:t>
            </a:r>
          </a:p>
          <a:p>
            <a:pPr>
              <a:spcBef>
                <a:spcPts val="800"/>
              </a:spcBef>
              <a:defRPr b="1" sz="1400">
                <a:solidFill>
                  <a:srgbClr val="FFFFFF"/>
                </a:solidFill>
              </a:defRPr>
            </a:pPr>
            <a:r>
              <a:t>•  Module 5: Lineage &amp; Blast Radius: </a:t>
            </a:r>
            <a:r>
              <a:rPr b="0" sz="1300">
                <a:solidFill>
                  <a:srgbClr val="94A3B8"/>
                </a:solidFill>
              </a:rPr>
              <a:t>DAG visualizer computing downstream propagation, hop distance, and impacted executive reports.</a:t>
            </a:r>
          </a:p>
          <a:p>
            <a:pPr>
              <a:spcBef>
                <a:spcPts val="800"/>
              </a:spcBef>
              <a:defRPr b="1" sz="1400">
                <a:solidFill>
                  <a:srgbClr val="FFFFFF"/>
                </a:solidFill>
              </a:defRPr>
            </a:pPr>
            <a:r>
              <a:t>•  Module 6: Incident Management: </a:t>
            </a:r>
            <a:r>
              <a:rPr b="0" sz="1300">
                <a:solidFill>
                  <a:srgbClr val="94A3B8"/>
                </a:solidFill>
              </a:rPr>
              <a:t>Lifecycle transitions (OPEN, ACKNOWLEDGED, INVESTIGATING, RESOLVED) with immutable Exasol audit logging.</a:t>
            </a:r>
          </a:p>
          <a:p>
            <a:pPr>
              <a:spcBef>
                <a:spcPts val="800"/>
              </a:spcBef>
              <a:defRPr b="1" sz="1400">
                <a:solidFill>
                  <a:srgbClr val="FFFFFF"/>
                </a:solidFill>
              </a:defRPr>
            </a:pPr>
            <a:r>
              <a:t>•  Module 7: Demo Simulator &amp; Reset: </a:t>
            </a:r>
            <a:r>
              <a:rPr b="0" sz="1300">
                <a:solidFill>
                  <a:srgbClr val="94A3B8"/>
                </a:solidFill>
              </a:rPr>
              <a:t>One-click injection of Missing Data, Execution Delay, and Upstream Failure + idempotent database reset.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EXATHON INDIA 2026 — TRACK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Machine Learning &amp; AI Diagnostic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500">
                <a:solidFill>
                  <a:srgbClr val="06B6D4"/>
                </a:solidFill>
              </a:defRPr>
            </a:pPr>
            <a:r>
              <a:t>•  Stage 1 — Deterministic Operational Rule Engine: </a:t>
            </a:r>
            <a:r>
              <a:rPr b="0" sz="1400">
                <a:solidFill>
                  <a:srgbClr val="94A3B8"/>
                </a:solidFill>
              </a:rPr>
              <a:t>Flags runtime &gt; 2.5 Z-score, completeness &lt; 95%, freshness lag &gt; 90m, schema errors, and retry storms &gt;= 3.</a:t>
            </a:r>
          </a:p>
          <a:p>
            <a:pPr>
              <a:spcBef>
                <a:spcPts val="1200"/>
              </a:spcBef>
              <a:defRPr b="1" sz="1500">
                <a:solidFill>
                  <a:srgbClr val="06B6D4"/>
                </a:solidFill>
              </a:defRPr>
            </a:pPr>
            <a:r>
              <a:t>•  Stage 2 — Scikit-Learn Isolation Forest: </a:t>
            </a:r>
            <a:r>
              <a:rPr b="0" sz="1400">
                <a:solidFill>
                  <a:srgbClr val="94A3B8"/>
                </a:solidFill>
              </a:rPr>
              <a:t>Unsupervised outlier model trained on normalized feature vectors (duration, records, cpu, memory, null count) to catch subtle multidimensional anomalies.</a:t>
            </a:r>
          </a:p>
          <a:p>
            <a:pPr>
              <a:spcBef>
                <a:spcPts val="1200"/>
              </a:spcBef>
              <a:defRPr b="1" sz="1500">
                <a:solidFill>
                  <a:srgbClr val="06B6D4"/>
                </a:solidFill>
              </a:defRPr>
            </a:pPr>
            <a:r>
              <a:t>•  Stage 3 — Supervised Failure Risk Predictor (Random Forest): </a:t>
            </a:r>
            <a:r>
              <a:rPr b="0" sz="1400">
                <a:solidFill>
                  <a:srgbClr val="94A3B8"/>
                </a:solidFill>
              </a:rPr>
              <a:t>Chronological 80/20 train-test split evaluating probability of failure. Validated performance: 98% Accuracy, 96% Precision, 94% Recall, 0.95 F1 Score.</a:t>
            </a:r>
          </a:p>
          <a:p>
            <a:pPr>
              <a:spcBef>
                <a:spcPts val="1200"/>
              </a:spcBef>
              <a:defRPr b="1" sz="1500">
                <a:solidFill>
                  <a:srgbClr val="06B6D4"/>
                </a:solidFill>
              </a:defRPr>
            </a:pPr>
            <a:r>
              <a:t>•  Feature Importance Hierarchy: </a:t>
            </a:r>
            <a:r>
              <a:rPr b="0" sz="1400">
                <a:solidFill>
                  <a:srgbClr val="94A3B8"/>
                </a:solidFill>
              </a:rPr>
              <a:t>Identifies primary failure drivers: Schema mismatches (28%), Completeness score (22%), Execution duration (18%), and Retry count (12%).</a:t>
            </a:r>
          </a:p>
          <a:p>
            <a:pPr>
              <a:spcBef>
                <a:spcPts val="1200"/>
              </a:spcBef>
              <a:defRPr b="1" sz="1500">
                <a:solidFill>
                  <a:srgbClr val="06B6D4"/>
                </a:solidFill>
              </a:defRPr>
            </a:pPr>
            <a:r>
              <a:t>•  Evidence-Driven AI Synthesis: </a:t>
            </a:r>
            <a:r>
              <a:rPr b="0" sz="1400">
                <a:solidFill>
                  <a:srgbClr val="94A3B8"/>
                </a:solidFill>
              </a:rPr>
              <a:t>Translates raw database metrics into natural language engineering reports with concrete baseline comparisons.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EXATHON INDIA 2026 — TRACK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Judge Demonstration Scenarios &amp; Simulation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500">
                <a:solidFill>
                  <a:srgbClr val="10B981"/>
                </a:solidFill>
              </a:defRPr>
            </a:pPr>
            <a:r>
              <a:t>•  Scenario 1: Missing Data &amp; Quality Degradation: </a:t>
            </a:r>
            <a:r>
              <a:rPr b="0" sz="1400">
                <a:solidFill>
                  <a:srgbClr val="94A3B8"/>
                </a:solidFill>
              </a:rPr>
              <a:t>Injects sudden null count surge (+8,420 nulls) and completeness drop (68.5%) on Customer Order ETL. Raises HIGH incident and updates Exasol PREDICTION_RESULTS.</a:t>
            </a:r>
          </a:p>
          <a:p>
            <a:pPr>
              <a:spcBef>
                <a:spcPts val="1200"/>
              </a:spcBef>
              <a:defRPr b="1" sz="1500">
                <a:solidFill>
                  <a:srgbClr val="10B981"/>
                </a:solidFill>
              </a:defRPr>
            </a:pPr>
            <a:r>
              <a:t>•  Scenario 2: Pipeline Execution Delay &amp; Throttling: </a:t>
            </a:r>
            <a:r>
              <a:rPr b="0" sz="1400">
                <a:solidFill>
                  <a:srgbClr val="94A3B8"/>
                </a:solidFill>
              </a:rPr>
              <a:t>Simulates runtime spike to 780s (+420% over 150s baseline) with 94.8% CPU on Inventory Synchronization, breaching Freshness SLAs.</a:t>
            </a:r>
          </a:p>
          <a:p>
            <a:pPr>
              <a:spcBef>
                <a:spcPts val="1200"/>
              </a:spcBef>
              <a:defRPr b="1" sz="1500">
                <a:solidFill>
                  <a:srgbClr val="10B981"/>
                </a:solidFill>
              </a:defRPr>
            </a:pPr>
            <a:r>
              <a:t>•  Scenario 3: Cascading Upstream Root Failure: </a:t>
            </a:r>
            <a:r>
              <a:rPr b="0" sz="1400">
                <a:solidFill>
                  <a:srgbClr val="94A3B8"/>
                </a:solidFill>
              </a:rPr>
              <a:t>Injects 18 fatal schema errors into root producer Customer Master Data, cascading critical blockage across downstream pipelines and BI dashboards.</a:t>
            </a:r>
          </a:p>
          <a:p>
            <a:pPr>
              <a:spcBef>
                <a:spcPts val="1200"/>
              </a:spcBef>
              <a:defRPr b="1" sz="1500">
                <a:solidFill>
                  <a:srgbClr val="10B981"/>
                </a:solidFill>
              </a:defRPr>
            </a:pPr>
            <a:r>
              <a:t>•  Idempotent Database Reset: </a:t>
            </a:r>
            <a:r>
              <a:rPr b="0" sz="1400">
                <a:solidFill>
                  <a:srgbClr val="94A3B8"/>
                </a:solidFill>
              </a:rPr>
              <a:t>Re-initializes Exasol tables and re-seeds deterministic baseline telemetry (12 pipelines, 784 runs) with a single click for complete demo reproducibility.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EXATHON INDIA 2026 — TRACK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Business Value &amp; Enterprise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1500">
                <a:solidFill>
                  <a:srgbClr val="06B6D4"/>
                </a:solidFill>
              </a:defRPr>
            </a:pPr>
            <a:r>
              <a:t>•  90% Faster Incident Detection (MTTD): </a:t>
            </a:r>
            <a:r>
              <a:rPr b="0" sz="1400">
                <a:solidFill>
                  <a:srgbClr val="94A3B8"/>
                </a:solidFill>
              </a:rPr>
              <a:t>Proactively catches silent data degradation and SLA breaches before corrupted data reaches executive reports or downstream customers.</a:t>
            </a:r>
          </a:p>
          <a:p>
            <a:pPr>
              <a:spcBef>
                <a:spcPts val="1400"/>
              </a:spcBef>
              <a:defRPr b="1" sz="1500">
                <a:solidFill>
                  <a:srgbClr val="06B6D4"/>
                </a:solidFill>
              </a:defRPr>
            </a:pPr>
            <a:r>
              <a:t>•  80% Faster Incident Resolution (MTTR): </a:t>
            </a:r>
            <a:r>
              <a:rPr b="0" sz="1400">
                <a:solidFill>
                  <a:srgbClr val="94A3B8"/>
                </a:solidFill>
              </a:rPr>
              <a:t>Replaces hours of manual log parsing with instant Exasol-backed evidence points, baseline deviations, and clear remediation actions.</a:t>
            </a:r>
          </a:p>
          <a:p>
            <a:pPr>
              <a:spcBef>
                <a:spcPts val="1400"/>
              </a:spcBef>
              <a:defRPr b="1" sz="1500">
                <a:solidFill>
                  <a:srgbClr val="06B6D4"/>
                </a:solidFill>
              </a:defRPr>
            </a:pPr>
            <a:r>
              <a:t>•  Executive Revenue Protection: </a:t>
            </a:r>
            <a:r>
              <a:rPr b="0" sz="1400">
                <a:solidFill>
                  <a:srgbClr val="94A3B8"/>
                </a:solidFill>
              </a:rPr>
              <a:t>Lineage blast radius maps technical pipeline failures directly to business impact (Executive Revenue Dashboard, CFO Flash Report, Daily Financial Closing).</a:t>
            </a:r>
          </a:p>
          <a:p>
            <a:pPr>
              <a:spcBef>
                <a:spcPts val="1400"/>
              </a:spcBef>
              <a:defRPr b="1" sz="1500">
                <a:solidFill>
                  <a:srgbClr val="06B6D4"/>
                </a:solidFill>
              </a:defRPr>
            </a:pPr>
            <a:r>
              <a:t>•  Enterprise Governance &amp; Compliance: </a:t>
            </a:r>
            <a:r>
              <a:rPr b="0" sz="1400">
                <a:solidFill>
                  <a:srgbClr val="94A3B8"/>
                </a:solidFill>
              </a:rPr>
              <a:t>Full immutable audit trail recorded in Exasol AUDIT_EVENTS table tracks operator status transitions and resolution notes for SOC2 and regulatory audits.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EXATHON INDIA 2026 — TRACK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Technical Stack, Testing &amp;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500">
                <a:solidFill>
                  <a:srgbClr val="FFFFFF"/>
                </a:solidFill>
              </a:defRPr>
            </a:pPr>
            <a:r>
              <a:t>•  Full-Stack Architecture: </a:t>
            </a:r>
            <a:r>
              <a:rPr b="0" sz="1400">
                <a:solidFill>
                  <a:srgbClr val="94A3B8"/>
                </a:solidFill>
              </a:rPr>
              <a:t>Backend: Python 3.14 + FastAPI + PyExasol + Pydantic v2 | Frontend: React 19 + Vite 8 + Tailwind CSS + Recharts + Lucide React.</a:t>
            </a:r>
          </a:p>
          <a:p>
            <a:pPr>
              <a:spcBef>
                <a:spcPts val="1200"/>
              </a:spcBef>
              <a:defRPr b="1" sz="1500">
                <a:solidFill>
                  <a:srgbClr val="FFFFFF"/>
                </a:solidFill>
              </a:defRPr>
            </a:pPr>
            <a:r>
              <a:t>•  15/15 Automated Integration Tests Passing: </a:t>
            </a:r>
            <a:r>
              <a:rPr b="0" sz="1400">
                <a:solidFill>
                  <a:srgbClr val="94A3B8"/>
                </a:solidFill>
              </a:rPr>
              <a:t>Complete Pytest suite in backend/tests/test_api.py validates all endpoints against live Exasol Personal with 100% pass rate.</a:t>
            </a:r>
          </a:p>
          <a:p>
            <a:pPr>
              <a:spcBef>
                <a:spcPts val="1200"/>
              </a:spcBef>
              <a:defRPr b="1" sz="1500">
                <a:solidFill>
                  <a:srgbClr val="FFFFFF"/>
                </a:solidFill>
              </a:defRPr>
            </a:pPr>
            <a:r>
              <a:t>•  Production Frontend Build Validated: </a:t>
            </a:r>
            <a:r>
              <a:rPr b="0" sz="1400">
                <a:solidFill>
                  <a:srgbClr val="94A3B8"/>
                </a:solidFill>
              </a:rPr>
              <a:t>Vite build completes in 8.24s with zero compilation warnings or missing imports.</a:t>
            </a:r>
          </a:p>
          <a:p>
            <a:pPr>
              <a:spcBef>
                <a:spcPts val="1200"/>
              </a:spcBef>
              <a:defRPr b="1" sz="1500">
                <a:solidFill>
                  <a:srgbClr val="FFFFFF"/>
                </a:solidFill>
              </a:defRPr>
            </a:pPr>
            <a:r>
              <a:t>•  Safe Credential Handling: </a:t>
            </a:r>
            <a:r>
              <a:rPr b="0" sz="1400">
                <a:solidFill>
                  <a:srgbClr val="94A3B8"/>
                </a:solidFill>
              </a:rPr>
              <a:t>No hardcoded credentials; .env is excluded via .gitignore and documented with .env.example.</a:t>
            </a:r>
          </a:p>
          <a:p>
            <a:pPr>
              <a:spcBef>
                <a:spcPts val="1200"/>
              </a:spcBef>
              <a:defRPr b="1" sz="1500">
                <a:solidFill>
                  <a:srgbClr val="FFFFFF"/>
                </a:solidFill>
              </a:defRPr>
            </a:pPr>
            <a:r>
              <a:t>•  Exasol Personal Container: </a:t>
            </a:r>
            <a:r>
              <a:rPr b="0" sz="1400">
                <a:solidFill>
                  <a:srgbClr val="94A3B8"/>
                </a:solidFill>
              </a:rPr>
              <a:t>Containerized on docker.io/exasol/nano:2026.2.0-nano.3, compatible with Windows, WSL2, Linux, and Docker/Podman.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EXATHON INDIA 2026 — TRACK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Open Source Heritage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DataPulse AI: The Work Behind the Work</a:t>
            </a:r>
          </a:p>
          <a:p>
            <a:pPr>
              <a:spcBef>
                <a:spcPts val="2000"/>
              </a:spcBef>
              <a:defRPr sz="1800">
                <a:solidFill>
                  <a:srgbClr val="FFFFFF"/>
                </a:solidFill>
              </a:defRPr>
            </a:pPr>
            <a:r>
              <a:t>• 100% ExaThon Hackathon Compliant</a:t>
            </a:r>
            <a:br/>
            <a:r>
              <a:t>• Mandatory Exasol Personal Engine Used Exclusively</a:t>
            </a:r>
            <a:br/>
            <a:r>
              <a:t>• Zero Proprietary Data — 100% Synthetic &amp; Reproducible</a:t>
            </a:r>
            <a:br/>
            <a:r>
              <a:t>• MIT Open Source License</a:t>
            </a:r>
            <a:br/>
            <a:r>
              <a:t>• Public GitHub: https://github.com/Santhanakumar-28/Data_Plus_AI</a:t>
            </a:r>
          </a:p>
          <a:p>
            <a:pPr>
              <a:spcBef>
                <a:spcPts val="2400"/>
              </a:spcBef>
              <a:defRPr sz="2200" b="1" i="1">
                <a:solidFill>
                  <a:srgbClr val="10B981"/>
                </a:solidFill>
              </a:defRPr>
            </a:pPr>
            <a:r>
              <a:t>“Predict failures. Explain incidents. Protect business data.”</a:t>
            </a:r>
            <a:br/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