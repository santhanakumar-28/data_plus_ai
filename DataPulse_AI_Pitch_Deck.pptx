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80BB3F9-32DA-8141-C994-B296DE703E62}">
          <p14:sldIdLst>
            <p14:sldId id="256"/>
          </p14:sldIdLst>
        </p14:section>
        <p14:section name="Problem &amp; Solution" id="{3C620A73-24D9-5D66-7000-00181D9D5F2B}">
          <p14:sldIdLst>
            <p14:sldId id="257"/>
            <p14:sldId id="258"/>
          </p14:sldIdLst>
        </p14:section>
        <p14:section name="Platform" id="{CD54BCEC-9544-E1AE-8220-50D8C1798165}">
          <p14:sldIdLst>
            <p14:sldId id="259"/>
            <p14:sldId id="260"/>
          </p14:sldIdLst>
        </p14:section>
        <p14:section name="Intelligence" id="{72C30B81-0A18-BE7D-1821-6BE84F6A5D68}">
          <p14:sldIdLst>
            <p14:sldId id="261"/>
            <p14:sldId id="262"/>
          </p14:sldIdLst>
        </p14:section>
        <p14:section name="Demo &amp; Value" id="{286CD895-BF7C-4B0E-719A-92BEF4304A9F}">
          <p14:sldIdLst>
            <p14:sldId id="263"/>
            <p14:sldId id="264"/>
          </p14:sldIdLst>
        </p14:section>
        <p14:section name="Conclusion" id="{A3F1D944-7DC2-1058-D071-A282A36CDA46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3151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914400"/>
            <a:ext cx="5943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Large"/>
          <p:cNvSpPr/>
          <p:nvPr/>
        </p:nvSpPr>
        <p:spPr>
          <a:xfrm>
            <a:off x="6400800" y="-1097280"/>
            <a:ext cx="4206240" cy="420624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Small"/>
          <p:cNvSpPr/>
          <p:nvPr/>
        </p:nvSpPr>
        <p:spPr>
          <a:xfrm>
            <a:off x="7498080" y="1097280"/>
            <a:ext cx="2194560" cy="2194560"/>
          </a:xfrm>
          <a:prstGeom prst="ellipse">
            <a:avLst/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Event"/>
          <p:cNvSpPr txBox="1"/>
          <p:nvPr/>
        </p:nvSpPr>
        <p:spPr>
          <a:xfrm>
            <a:off x="640080" y="502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accent1"/>
                </a:solidFill>
              </a:rPr>
              <a:t>Exasol</a:t>
            </a:r>
            <a:r>
              <a:rPr lang="en-US" sz="1400" b="1" dirty="0">
                <a:solidFill>
                  <a:schemeClr val="accent1"/>
                </a:solidFill>
              </a:rPr>
              <a:t>  2026</a:t>
            </a:r>
            <a:endParaRPr lang="en-US" sz="14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9144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DataPulse AI</a:t>
            </a:r>
            <a:endParaRPr lang="en-US" sz="4800" dirty="0"/>
          </a:p>
        </p:txBody>
      </p:sp>
      <p:sp>
        <p:nvSpPr>
          <p:cNvPr id="6" name="Subtitle"/>
          <p:cNvSpPr txBox="1"/>
          <p:nvPr/>
        </p:nvSpPr>
        <p:spPr>
          <a:xfrm>
            <a:off x="640080" y="18745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Intelligent Data Pipeline Monitoring, Anomaly Detection and Root Cause Analysis</a:t>
            </a:r>
            <a:endParaRPr lang="en-US" sz="2000" dirty="0"/>
          </a:p>
        </p:txBody>
      </p:sp>
      <p:sp>
        <p:nvSpPr>
          <p:cNvPr id="7" name="Tagline"/>
          <p:cNvSpPr txBox="1"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Predict failures. Explain incidents. Protect business data.</a:t>
            </a:r>
            <a:endParaRPr lang="en-US" sz="1600" dirty="0"/>
          </a:p>
        </p:txBody>
      </p:sp>
      <p:sp>
        <p:nvSpPr>
          <p:cNvPr id="8" name="Track Details"/>
          <p:cNvSpPr txBox="1"/>
          <p:nvPr/>
        </p:nvSpPr>
        <p:spPr>
          <a:xfrm>
            <a:off x="640080" y="32004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Track 04 — The Work Behind the Work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AI/ML + Data Engineering + Enterprise Operations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Problem — The Silent Pipeline Crisis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Data engineering and enterprise operations teams face severe operational friction</a:t>
            </a:r>
            <a:endParaRPr lang="en-US" sz="1400" dirty="0"/>
          </a:p>
        </p:txBody>
      </p:sp>
      <p:sp>
        <p:nvSpPr>
          <p:cNvPr id="4" name="Card 1"/>
          <p:cNvSpPr/>
          <p:nvPr/>
        </p:nvSpPr>
        <p:spPr>
          <a:xfrm>
            <a:off x="45720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40080" y="15361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Card 1 Title"/>
          <p:cNvSpPr txBox="1"/>
          <p:nvPr/>
        </p:nvSpPr>
        <p:spPr>
          <a:xfrm>
            <a:off x="1143000" y="1536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Fragmented Observability</a:t>
            </a:r>
            <a:endParaRPr lang="en-US" sz="1600" dirty="0"/>
          </a:p>
        </p:txBody>
      </p:sp>
      <p:sp>
        <p:nvSpPr>
          <p:cNvPr id="7" name="Card 1 Body"/>
          <p:cNvSpPr txBox="1"/>
          <p:nvPr/>
        </p:nvSpPr>
        <p:spPr>
          <a:xfrm>
            <a:off x="640080" y="2011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Execution telemetry, error logs, data quality audits and dependency chains sit in disconnected tools (Airflow, dbt, Great Expectations, CloudWatch).</a:t>
            </a:r>
            <a:endParaRPr lang="en-US" sz="1300" dirty="0"/>
          </a:p>
        </p:txBody>
      </p:sp>
      <p:sp>
        <p:nvSpPr>
          <p:cNvPr id="8" name="Card 2"/>
          <p:cNvSpPr/>
          <p:nvPr/>
        </p:nvSpPr>
        <p:spPr>
          <a:xfrm>
            <a:off x="466344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 2"/>
          <p:cNvSpPr txBox="1"/>
          <p:nvPr/>
        </p:nvSpPr>
        <p:spPr>
          <a:xfrm>
            <a:off x="4846320" y="15361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Card 2 Title"/>
          <p:cNvSpPr txBox="1"/>
          <p:nvPr/>
        </p:nvSpPr>
        <p:spPr>
          <a:xfrm>
            <a:off x="5349240" y="1536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Silent Quality Degradation</a:t>
            </a:r>
            <a:endParaRPr lang="en-US" sz="1600" dirty="0"/>
          </a:p>
        </p:txBody>
      </p:sp>
      <p:sp>
        <p:nvSpPr>
          <p:cNvPr id="11" name="Card 2 Body"/>
          <p:cNvSpPr txBox="1"/>
          <p:nvPr/>
        </p:nvSpPr>
        <p:spPr>
          <a:xfrm>
            <a:off x="4846320" y="2011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Pipelines finish with status SUCCESS while emitting 80% null values, schema drifts or stale records.</a:t>
            </a:r>
            <a:endParaRPr lang="en-US" sz="1300" dirty="0"/>
          </a:p>
        </p:txBody>
      </p:sp>
      <p:sp>
        <p:nvSpPr>
          <p:cNvPr id="12" name="Card 3"/>
          <p:cNvSpPr/>
          <p:nvPr/>
        </p:nvSpPr>
        <p:spPr>
          <a:xfrm>
            <a:off x="457200" y="30175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 3"/>
          <p:cNvSpPr txBox="1"/>
          <p:nvPr/>
        </p:nvSpPr>
        <p:spPr>
          <a:xfrm>
            <a:off x="640080" y="31821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Card 3 Title"/>
          <p:cNvSpPr txBox="1"/>
          <p:nvPr/>
        </p:nvSpPr>
        <p:spPr>
          <a:xfrm>
            <a:off x="1143000" y="31821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Investigation Fatigue</a:t>
            </a:r>
            <a:endParaRPr lang="en-US" sz="1600" dirty="0"/>
          </a:p>
        </p:txBody>
      </p:sp>
      <p:sp>
        <p:nvSpPr>
          <p:cNvPr id="15" name="Card 3 Body"/>
          <p:cNvSpPr txBox="1"/>
          <p:nvPr/>
        </p:nvSpPr>
        <p:spPr>
          <a:xfrm>
            <a:off x="64008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When a dashboard breaks, senior data engineers spend 3–5 hours manually grepping logs and hunting upstream dependencies.</a:t>
            </a:r>
            <a:endParaRPr lang="en-US" sz="1300" dirty="0"/>
          </a:p>
        </p:txBody>
      </p:sp>
      <p:sp>
        <p:nvSpPr>
          <p:cNvPr id="16" name="Card 4"/>
          <p:cNvSpPr/>
          <p:nvPr/>
        </p:nvSpPr>
        <p:spPr>
          <a:xfrm>
            <a:off x="4663440" y="30175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 4"/>
          <p:cNvSpPr txBox="1"/>
          <p:nvPr/>
        </p:nvSpPr>
        <p:spPr>
          <a:xfrm>
            <a:off x="4846320" y="31821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Card 4 Title"/>
          <p:cNvSpPr txBox="1"/>
          <p:nvPr/>
        </p:nvSpPr>
        <p:spPr>
          <a:xfrm>
            <a:off x="5349240" y="31821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Unknown Blast Radius</a:t>
            </a:r>
            <a:endParaRPr lang="en-US" sz="1600" dirty="0"/>
          </a:p>
        </p:txBody>
      </p:sp>
      <p:sp>
        <p:nvSpPr>
          <p:cNvPr id="19" name="Card 4 Body"/>
          <p:cNvSpPr txBox="1"/>
          <p:nvPr/>
        </p:nvSpPr>
        <p:spPr>
          <a:xfrm>
            <a:off x="484632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Teams cannot immediately quantify which downstream executive reports or regulatory models are contaminated.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The Solution — DataPulse AI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A unified observability and incident intelligence platform powered directly by Exasol Personal</a:t>
            </a:r>
            <a:endParaRPr lang="en-US" sz="1400" dirty="0"/>
          </a:p>
        </p:txBody>
      </p:sp>
      <p:sp>
        <p:nvSpPr>
          <p:cNvPr id="4" name="Row 1"/>
          <p:cNvSpPr/>
          <p:nvPr/>
        </p:nvSpPr>
        <p:spPr>
          <a:xfrm>
            <a:off x="457200" y="137160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594360" y="14538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Row 1 Label"/>
          <p:cNvSpPr txBox="1"/>
          <p:nvPr/>
        </p:nvSpPr>
        <p:spPr>
          <a:xfrm>
            <a:off x="114300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Real-Time Pipeline Telemetry</a:t>
            </a:r>
            <a:endParaRPr lang="en-US" sz="1400" dirty="0"/>
          </a:p>
        </p:txBody>
      </p:sp>
      <p:sp>
        <p:nvSpPr>
          <p:cNvPr id="7" name="Row 1 Text"/>
          <p:cNvSpPr txBox="1"/>
          <p:nvPr/>
        </p:nvSpPr>
        <p:spPr>
          <a:xfrm>
            <a:off x="3886200" y="1371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Dynamic status, duration, throughput and resource profiling.</a:t>
            </a:r>
            <a:endParaRPr lang="en-US" sz="1300" dirty="0"/>
          </a:p>
        </p:txBody>
      </p:sp>
      <p:sp>
        <p:nvSpPr>
          <p:cNvPr id="8" name="Row 2"/>
          <p:cNvSpPr/>
          <p:nvPr/>
        </p:nvSpPr>
        <p:spPr>
          <a:xfrm>
            <a:off x="457200" y="20116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 2"/>
          <p:cNvSpPr txBox="1"/>
          <p:nvPr/>
        </p:nvSpPr>
        <p:spPr>
          <a:xfrm>
            <a:off x="594360" y="20939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Row 2 Label"/>
          <p:cNvSpPr txBox="1"/>
          <p:nvPr/>
        </p:nvSpPr>
        <p:spPr>
          <a:xfrm>
            <a:off x="1143000" y="2011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Two-Stage Anomaly Detection</a:t>
            </a:r>
            <a:endParaRPr lang="en-US" sz="1400" dirty="0"/>
          </a:p>
        </p:txBody>
      </p:sp>
      <p:sp>
        <p:nvSpPr>
          <p:cNvPr id="11" name="Row 2 Text"/>
          <p:cNvSpPr txBox="1"/>
          <p:nvPr/>
        </p:nvSpPr>
        <p:spPr>
          <a:xfrm>
            <a:off x="3886200" y="2011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Deterministic operational rules + Scikit-Learn Isolation Forest on live database vectors.</a:t>
            </a:r>
            <a:endParaRPr lang="en-US" sz="1300" dirty="0"/>
          </a:p>
        </p:txBody>
      </p:sp>
      <p:sp>
        <p:nvSpPr>
          <p:cNvPr id="12" name="Row 3"/>
          <p:cNvSpPr/>
          <p:nvPr/>
        </p:nvSpPr>
        <p:spPr>
          <a:xfrm>
            <a:off x="457200" y="26517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 3"/>
          <p:cNvSpPr txBox="1"/>
          <p:nvPr/>
        </p:nvSpPr>
        <p:spPr>
          <a:xfrm>
            <a:off x="594360" y="27340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Row 3 Label"/>
          <p:cNvSpPr txBox="1"/>
          <p:nvPr/>
        </p:nvSpPr>
        <p:spPr>
          <a:xfrm>
            <a:off x="114300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Automated AI Root Cause Analysis</a:t>
            </a:r>
            <a:endParaRPr lang="en-US" sz="1400" dirty="0"/>
          </a:p>
        </p:txBody>
      </p:sp>
      <p:sp>
        <p:nvSpPr>
          <p:cNvPr id="15" name="Row 3 Text"/>
          <p:cNvSpPr txBox="1"/>
          <p:nvPr/>
        </p:nvSpPr>
        <p:spPr>
          <a:xfrm>
            <a:off x="3886200" y="2651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Explains incidents with concrete Exasol-backed evidence: Z-score deviation, data completeness, upstream culprits.</a:t>
            </a:r>
            <a:endParaRPr lang="en-US" sz="1300" dirty="0"/>
          </a:p>
        </p:txBody>
      </p:sp>
      <p:sp>
        <p:nvSpPr>
          <p:cNvPr id="16" name="Row 4"/>
          <p:cNvSpPr/>
          <p:nvPr/>
        </p:nvSpPr>
        <p:spPr>
          <a:xfrm>
            <a:off x="457200" y="329184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 4"/>
          <p:cNvSpPr txBox="1"/>
          <p:nvPr/>
        </p:nvSpPr>
        <p:spPr>
          <a:xfrm>
            <a:off x="594360" y="33741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Row 4 Label"/>
          <p:cNvSpPr txBox="1"/>
          <p:nvPr/>
        </p:nvSpPr>
        <p:spPr>
          <a:xfrm>
            <a:off x="1143000" y="3291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Lineage &amp; Blast Radius Calculator</a:t>
            </a:r>
            <a:endParaRPr lang="en-US" sz="1400" dirty="0"/>
          </a:p>
        </p:txBody>
      </p:sp>
      <p:sp>
        <p:nvSpPr>
          <p:cNvPr id="19" name="Row 4 Text"/>
          <p:cNvSpPr txBox="1"/>
          <p:nvPr/>
        </p:nvSpPr>
        <p:spPr>
          <a:xfrm>
            <a:off x="3886200" y="3291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Traverses dependency graphs to predict downstream impact on critical BI reports.</a:t>
            </a:r>
            <a:endParaRPr lang="en-US" sz="1300" dirty="0"/>
          </a:p>
        </p:txBody>
      </p:sp>
      <p:sp>
        <p:nvSpPr>
          <p:cNvPr id="20" name="Row 5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umber 5"/>
          <p:cNvSpPr txBox="1"/>
          <p:nvPr/>
        </p:nvSpPr>
        <p:spPr>
          <a:xfrm>
            <a:off x="594360" y="4014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Row 5 Label"/>
          <p:cNvSpPr txBox="1"/>
          <p:nvPr/>
        </p:nvSpPr>
        <p:spPr>
          <a:xfrm>
            <a:off x="1143000" y="3931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Incident Lifecycle &amp; Audit Trail</a:t>
            </a:r>
            <a:endParaRPr lang="en-US" sz="1400" dirty="0"/>
          </a:p>
        </p:txBody>
      </p:sp>
      <p:sp>
        <p:nvSpPr>
          <p:cNvPr id="23" name="Row 5 Text"/>
          <p:cNvSpPr txBox="1"/>
          <p:nvPr/>
        </p:nvSpPr>
        <p:spPr>
          <a:xfrm>
            <a:off x="3886200" y="3931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Actionable operator resolution logging, written directly into Exasol.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Why Exasol Personal?</a:t>
            </a:r>
            <a:endParaRPr lang="en-US" sz="2800" dirty="0"/>
          </a:p>
        </p:txBody>
      </p:sp>
      <p:sp>
        <p:nvSpPr>
          <p:cNvPr id="3" name="Banner"/>
          <p:cNvSpPr txBox="1"/>
          <p:nvPr/>
        </p:nvSpPr>
        <p:spPr>
          <a:xfrm>
            <a:off x="457200" y="105156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17780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Exasol Personal is the exclusive, mandatory primary data engine for DataPulse AI</a:t>
            </a:r>
            <a:endParaRPr lang="en-US" sz="1500" dirty="0"/>
          </a:p>
        </p:txBody>
      </p:sp>
      <p:sp>
        <p:nvSpPr>
          <p:cNvPr id="4" name="Card 1"/>
          <p:cNvSpPr/>
          <p:nvPr/>
        </p:nvSpPr>
        <p:spPr>
          <a:xfrm>
            <a:off x="457200" y="169164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1 Title"/>
          <p:cNvSpPr txBox="1"/>
          <p:nvPr/>
        </p:nvSpPr>
        <p:spPr>
          <a:xfrm>
            <a:off x="640080" y="1801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In-Memory Columnar Speed</a:t>
            </a:r>
            <a:endParaRPr lang="en-US" sz="1600" dirty="0"/>
          </a:p>
        </p:txBody>
      </p:sp>
      <p:sp>
        <p:nvSpPr>
          <p:cNvPr id="6" name="Card 1 Body"/>
          <p:cNvSpPr txBox="1"/>
          <p:nvPr/>
        </p:nvSpPr>
        <p:spPr>
          <a:xfrm>
            <a:off x="640080" y="22219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Aggregates 14-day rolling execution trends across thousands of runs in milliseconds.</a:t>
            </a:r>
            <a:endParaRPr lang="en-US" sz="1300" dirty="0"/>
          </a:p>
        </p:txBody>
      </p:sp>
      <p:sp>
        <p:nvSpPr>
          <p:cNvPr id="7" name="Card 2"/>
          <p:cNvSpPr/>
          <p:nvPr/>
        </p:nvSpPr>
        <p:spPr>
          <a:xfrm>
            <a:off x="4663440" y="169164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 2 Title"/>
          <p:cNvSpPr txBox="1"/>
          <p:nvPr/>
        </p:nvSpPr>
        <p:spPr>
          <a:xfrm>
            <a:off x="4846320" y="1801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Vectorized Analytical SQL</a:t>
            </a:r>
            <a:endParaRPr lang="en-US" sz="1600" dirty="0"/>
          </a:p>
        </p:txBody>
      </p:sp>
      <p:sp>
        <p:nvSpPr>
          <p:cNvPr id="9" name="Card 2 Body"/>
          <p:cNvSpPr txBox="1"/>
          <p:nvPr/>
        </p:nvSpPr>
        <p:spPr>
          <a:xfrm>
            <a:off x="4846320" y="22219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Powers complex CTEs with window functions, multi-metric aggregations and standard deviation baselines.</a:t>
            </a:r>
            <a:endParaRPr lang="en-US" sz="1300" dirty="0"/>
          </a:p>
        </p:txBody>
      </p:sp>
      <p:sp>
        <p:nvSpPr>
          <p:cNvPr id="10" name="Card 3"/>
          <p:cNvSpPr/>
          <p:nvPr/>
        </p:nvSpPr>
        <p:spPr>
          <a:xfrm>
            <a:off x="457200" y="320040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 3 Title"/>
          <p:cNvSpPr txBox="1"/>
          <p:nvPr/>
        </p:nvSpPr>
        <p:spPr>
          <a:xfrm>
            <a:off x="640080" y="3310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Unified Single Source of Truth</a:t>
            </a:r>
            <a:endParaRPr lang="en-US" sz="1600" dirty="0"/>
          </a:p>
        </p:txBody>
      </p:sp>
      <p:sp>
        <p:nvSpPr>
          <p:cNvPr id="12" name="Card 3 Body"/>
          <p:cNvSpPr txBox="1"/>
          <p:nvPr/>
        </p:nvSpPr>
        <p:spPr>
          <a:xfrm>
            <a:off x="640080" y="37307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No duplicate caching layers. Operational records, ML outputs and audit logs all live together in the DATAPULSE schema.</a:t>
            </a:r>
            <a:endParaRPr lang="en-US" sz="1300" dirty="0"/>
          </a:p>
        </p:txBody>
      </p:sp>
      <p:sp>
        <p:nvSpPr>
          <p:cNvPr id="13" name="Card 4"/>
          <p:cNvSpPr/>
          <p:nvPr/>
        </p:nvSpPr>
        <p:spPr>
          <a:xfrm>
            <a:off x="4663440" y="320040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rd 4 Title"/>
          <p:cNvSpPr txBox="1"/>
          <p:nvPr/>
        </p:nvSpPr>
        <p:spPr>
          <a:xfrm>
            <a:off x="4846320" y="3310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Zero Hallucination</a:t>
            </a:r>
            <a:endParaRPr lang="en-US" sz="1600" dirty="0"/>
          </a:p>
        </p:txBody>
      </p:sp>
      <p:sp>
        <p:nvSpPr>
          <p:cNvPr id="15" name="Card 4 Body"/>
          <p:cNvSpPr txBox="1"/>
          <p:nvPr/>
        </p:nvSpPr>
        <p:spPr>
          <a:xfrm>
            <a:off x="4846320" y="37307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Every KPI, chart and anomaly score on screen comes from real database queries executed via PyExasol.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Core Architecture &amp; Data Flow</a:t>
            </a:r>
            <a:endParaRPr lang="en-US" sz="2800" dirty="0"/>
          </a:p>
        </p:txBody>
      </p:sp>
      <p:sp>
        <p:nvSpPr>
          <p:cNvPr id="3" name="Flow Box 1"/>
          <p:cNvSpPr txBox="1"/>
          <p:nvPr/>
        </p:nvSpPr>
        <p:spPr>
          <a:xfrm>
            <a:off x="457200" y="1188720"/>
            <a:ext cx="137160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Enterprise Pipelines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Telemetries</a:t>
            </a:r>
            <a:endParaRPr lang="en-US" sz="1400" dirty="0"/>
          </a:p>
        </p:txBody>
      </p:sp>
      <p:sp>
        <p:nvSpPr>
          <p:cNvPr id="4" name="Flow Arrow 1"/>
          <p:cNvSpPr/>
          <p:nvPr/>
        </p:nvSpPr>
        <p:spPr>
          <a:xfrm>
            <a:off x="1874520" y="1645920"/>
            <a:ext cx="24688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Flow Box 2"/>
          <p:cNvSpPr txBox="1"/>
          <p:nvPr/>
        </p:nvSpPr>
        <p:spPr>
          <a:xfrm>
            <a:off x="2171700" y="1188720"/>
            <a:ext cx="137160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Exasol Personal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DATAPULSE schema</a:t>
            </a:r>
            <a:endParaRPr lang="en-US" sz="1400" dirty="0"/>
          </a:p>
        </p:txBody>
      </p:sp>
      <p:sp>
        <p:nvSpPr>
          <p:cNvPr id="6" name="Flow Arrow 2"/>
          <p:cNvSpPr/>
          <p:nvPr/>
        </p:nvSpPr>
        <p:spPr>
          <a:xfrm>
            <a:off x="3589020" y="1645920"/>
            <a:ext cx="24688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Flow Box 3"/>
          <p:cNvSpPr txBox="1"/>
          <p:nvPr/>
        </p:nvSpPr>
        <p:spPr>
          <a:xfrm>
            <a:off x="3886200" y="1188720"/>
            <a:ext cx="137160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FastAPI Backend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Analytical layer</a:t>
            </a:r>
            <a:endParaRPr lang="en-US" sz="1400" dirty="0"/>
          </a:p>
        </p:txBody>
      </p:sp>
      <p:sp>
        <p:nvSpPr>
          <p:cNvPr id="8" name="Flow Arrow 3"/>
          <p:cNvSpPr/>
          <p:nvPr/>
        </p:nvSpPr>
        <p:spPr>
          <a:xfrm>
            <a:off x="5303520" y="1645920"/>
            <a:ext cx="24688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Flow Box 4"/>
          <p:cNvSpPr txBox="1"/>
          <p:nvPr/>
        </p:nvSpPr>
        <p:spPr>
          <a:xfrm>
            <a:off x="5600700" y="1188720"/>
            <a:ext cx="137160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ML &amp; RCA Engine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Isolation Forest &amp; Random Forest</a:t>
            </a:r>
            <a:endParaRPr lang="en-US" sz="1400" dirty="0"/>
          </a:p>
        </p:txBody>
      </p:sp>
      <p:sp>
        <p:nvSpPr>
          <p:cNvPr id="10" name="Flow Arrow 4"/>
          <p:cNvSpPr/>
          <p:nvPr/>
        </p:nvSpPr>
        <p:spPr>
          <a:xfrm>
            <a:off x="7018020" y="1645920"/>
            <a:ext cx="24688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Flow Box 5"/>
          <p:cNvSpPr txBox="1"/>
          <p:nvPr/>
        </p:nvSpPr>
        <p:spPr>
          <a:xfrm>
            <a:off x="7315200" y="1188720"/>
            <a:ext cx="137160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React Enterprise UI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Tailwind CSS &amp; Recharts</a:t>
            </a:r>
            <a:endParaRPr lang="en-US" sz="1400" dirty="0"/>
          </a:p>
        </p:txBody>
      </p:sp>
      <p:sp>
        <p:nvSpPr>
          <p:cNvPr id="12" name="Feedback Note"/>
          <p:cNvSpPr txBox="1"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5"/>
                </a:solidFill>
              </a:rPr>
              <a:t>Operator incident actions are written back to Exasol</a:t>
            </a:r>
            <a:endParaRPr lang="en-US" sz="1200" dirty="0"/>
          </a:p>
        </p:txBody>
      </p:sp>
      <p:sp>
        <p:nvSpPr>
          <p:cNvPr id="13" name="Tables Header"/>
          <p:cNvSpPr txBox="1"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7 Core Exasol Tables</a:t>
            </a:r>
            <a:endParaRPr lang="en-US" sz="1600" dirty="0"/>
          </a:p>
        </p:txBody>
      </p:sp>
      <p:sp>
        <p:nvSpPr>
          <p:cNvPr id="14" name="Table Chip 1"/>
          <p:cNvSpPr txBox="1"/>
          <p:nvPr/>
        </p:nvSpPr>
        <p:spPr>
          <a:xfrm>
            <a:off x="457200" y="329184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PIPELINES</a:t>
            </a:r>
            <a:endParaRPr lang="en-US" sz="1050" dirty="0"/>
          </a:p>
        </p:txBody>
      </p:sp>
      <p:sp>
        <p:nvSpPr>
          <p:cNvPr id="15" name="Table Chip 2"/>
          <p:cNvSpPr txBox="1"/>
          <p:nvPr/>
        </p:nvSpPr>
        <p:spPr>
          <a:xfrm>
            <a:off x="2560320" y="329184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PIPELINE_RUNS</a:t>
            </a:r>
            <a:endParaRPr lang="en-US" sz="1050" dirty="0"/>
          </a:p>
        </p:txBody>
      </p:sp>
      <p:sp>
        <p:nvSpPr>
          <p:cNvPr id="16" name="Table Chip 3"/>
          <p:cNvSpPr txBox="1"/>
          <p:nvPr/>
        </p:nvSpPr>
        <p:spPr>
          <a:xfrm>
            <a:off x="4663440" y="329184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DATA_QUALITY</a:t>
            </a:r>
            <a:endParaRPr lang="en-US" sz="1050" dirty="0"/>
          </a:p>
        </p:txBody>
      </p:sp>
      <p:sp>
        <p:nvSpPr>
          <p:cNvPr id="17" name="Table Chip 4"/>
          <p:cNvSpPr txBox="1"/>
          <p:nvPr/>
        </p:nvSpPr>
        <p:spPr>
          <a:xfrm>
            <a:off x="6766560" y="329184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INCIDENTS</a:t>
            </a:r>
            <a:endParaRPr lang="en-US" sz="1050" dirty="0"/>
          </a:p>
        </p:txBody>
      </p:sp>
      <p:sp>
        <p:nvSpPr>
          <p:cNvPr id="18" name="Table Chip 5"/>
          <p:cNvSpPr txBox="1"/>
          <p:nvPr/>
        </p:nvSpPr>
        <p:spPr>
          <a:xfrm>
            <a:off x="457200" y="374904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PIPELINE_DEPENDENCIES</a:t>
            </a:r>
            <a:endParaRPr lang="en-US" sz="1050" dirty="0"/>
          </a:p>
        </p:txBody>
      </p:sp>
      <p:sp>
        <p:nvSpPr>
          <p:cNvPr id="19" name="Table Chip 6"/>
          <p:cNvSpPr txBox="1"/>
          <p:nvPr/>
        </p:nvSpPr>
        <p:spPr>
          <a:xfrm>
            <a:off x="2560320" y="374904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PREDICTION_RESULTS</a:t>
            </a:r>
            <a:endParaRPr lang="en-US" sz="1050" dirty="0"/>
          </a:p>
        </p:txBody>
      </p:sp>
      <p:sp>
        <p:nvSpPr>
          <p:cNvPr id="20" name="Table Chip 7"/>
          <p:cNvSpPr txBox="1"/>
          <p:nvPr/>
        </p:nvSpPr>
        <p:spPr>
          <a:xfrm>
            <a:off x="4663440" y="374904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AUDIT_EVENTS</a:t>
            </a:r>
            <a:endParaRPr lang="en-US" sz="1050" dirty="0"/>
          </a:p>
        </p:txBody>
      </p:sp>
      <p:sp>
        <p:nvSpPr>
          <p:cNvPr id="21" name="PyExasol Note"/>
          <p:cNvSpPr txBox="1"/>
          <p:nvPr/>
        </p:nvSpPr>
        <p:spPr>
          <a:xfrm>
            <a:off x="457200" y="42976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High-performance PyExasol integration: reusable connector with connection pooling, retries and safe TLS handling.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Machine Learning &amp; Intelligence Engine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Deterministic rigor combined with machine learning</a:t>
            </a:r>
            <a:endParaRPr lang="en-US" sz="1400" dirty="0"/>
          </a:p>
        </p:txBody>
      </p:sp>
      <p:sp>
        <p:nvSpPr>
          <p:cNvPr id="4" name="Stage Card 1"/>
          <p:cNvSpPr/>
          <p:nvPr/>
        </p:nvSpPr>
        <p:spPr>
          <a:xfrm>
            <a:off x="457200" y="1325880"/>
            <a:ext cx="26517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ge 1 Label"/>
          <p:cNvSpPr txBox="1"/>
          <p:nvPr/>
        </p:nvSpPr>
        <p:spPr>
          <a:xfrm>
            <a:off x="64008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STAGE 1</a:t>
            </a:r>
            <a:endParaRPr lang="en-US" sz="1100" dirty="0"/>
          </a:p>
        </p:txBody>
      </p:sp>
      <p:sp>
        <p:nvSpPr>
          <p:cNvPr id="6" name="Stage 1 Title"/>
          <p:cNvSpPr txBox="1"/>
          <p:nvPr/>
        </p:nvSpPr>
        <p:spPr>
          <a:xfrm>
            <a:off x="640080" y="1645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Deterministic Rule Engine</a:t>
            </a:r>
            <a:endParaRPr lang="en-US" sz="1500" dirty="0"/>
          </a:p>
        </p:txBody>
      </p:sp>
      <p:sp>
        <p:nvSpPr>
          <p:cNvPr id="7" name="Stage 1 Body"/>
          <p:cNvSpPr txBox="1"/>
          <p:nvPr/>
        </p:nvSpPr>
        <p:spPr>
          <a:xfrm>
            <a:off x="640080" y="219456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Runtime spikes (&gt; 2.5 Z-score)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Completeness drops (&lt; 95%)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Freshness SLA breaches (&gt; 90m)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Schema mismatches, retry storms</a:t>
            </a:r>
            <a:endParaRPr lang="en-US" sz="1200" dirty="0"/>
          </a:p>
        </p:txBody>
      </p:sp>
      <p:sp>
        <p:nvSpPr>
          <p:cNvPr id="8" name="Stage Card 2"/>
          <p:cNvSpPr/>
          <p:nvPr/>
        </p:nvSpPr>
        <p:spPr>
          <a:xfrm>
            <a:off x="3246120" y="1325880"/>
            <a:ext cx="26517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ge 2 Label"/>
          <p:cNvSpPr txBox="1"/>
          <p:nvPr/>
        </p:nvSpPr>
        <p:spPr>
          <a:xfrm>
            <a:off x="342900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STAGE 2</a:t>
            </a:r>
            <a:endParaRPr lang="en-US" sz="1100" dirty="0"/>
          </a:p>
        </p:txBody>
      </p:sp>
      <p:sp>
        <p:nvSpPr>
          <p:cNvPr id="10" name="Stage 2 Title"/>
          <p:cNvSpPr txBox="1"/>
          <p:nvPr/>
        </p:nvSpPr>
        <p:spPr>
          <a:xfrm>
            <a:off x="3429000" y="1645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Scikit-Learn Isolation Forest</a:t>
            </a:r>
            <a:endParaRPr lang="en-US" sz="1500" dirty="0"/>
          </a:p>
        </p:txBody>
      </p:sp>
      <p:sp>
        <p:nvSpPr>
          <p:cNvPr id="11" name="Stage 2 Body"/>
          <p:cNvSpPr txBox="1"/>
          <p:nvPr/>
        </p:nvSpPr>
        <p:spPr>
          <a:xfrm>
            <a:off x="3429000" y="219456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Unsupervised multivariate outlier detection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Across runtime, throughput, CPU and memory vectors</a:t>
            </a:r>
            <a:endParaRPr lang="en-US" sz="1200" dirty="0"/>
          </a:p>
        </p:txBody>
      </p:sp>
      <p:sp>
        <p:nvSpPr>
          <p:cNvPr id="12" name="Stage Card 3"/>
          <p:cNvSpPr/>
          <p:nvPr/>
        </p:nvSpPr>
        <p:spPr>
          <a:xfrm>
            <a:off x="6035040" y="1325880"/>
            <a:ext cx="26517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ge 3 Label"/>
          <p:cNvSpPr txBox="1"/>
          <p:nvPr/>
        </p:nvSpPr>
        <p:spPr>
          <a:xfrm>
            <a:off x="621792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STAGE 3</a:t>
            </a:r>
            <a:endParaRPr lang="en-US" sz="1100" dirty="0"/>
          </a:p>
        </p:txBody>
      </p:sp>
      <p:sp>
        <p:nvSpPr>
          <p:cNvPr id="14" name="Stage 3 Title"/>
          <p:cNvSpPr txBox="1"/>
          <p:nvPr/>
        </p:nvSpPr>
        <p:spPr>
          <a:xfrm>
            <a:off x="6217920" y="1645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Failure Risk Predictor (Random Forest)</a:t>
            </a:r>
            <a:endParaRPr lang="en-US" sz="1500" dirty="0"/>
          </a:p>
        </p:txBody>
      </p:sp>
      <p:sp>
        <p:nvSpPr>
          <p:cNvPr id="15" name="Stage 3 Body"/>
          <p:cNvSpPr txBox="1"/>
          <p:nvPr/>
        </p:nvSpPr>
        <p:spPr>
          <a:xfrm>
            <a:off x="6217920" y="219456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Trained on historical Exasol run telemetry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Top failure features: schema mismatches, completeness degradation, runtime surge</a:t>
            </a:r>
            <a:endParaRPr lang="en-US" sz="1200" dirty="0"/>
          </a:p>
        </p:txBody>
      </p:sp>
      <p:sp>
        <p:nvSpPr>
          <p:cNvPr id="16" name="Metrics Caption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Stage 3 chronological validation</a:t>
            </a:r>
            <a:endParaRPr lang="en-US" sz="1200" dirty="0"/>
          </a:p>
        </p:txBody>
      </p:sp>
      <p:sp>
        <p:nvSpPr>
          <p:cNvPr id="17" name="Metric 1"/>
          <p:cNvSpPr txBox="1"/>
          <p:nvPr/>
        </p:nvSpPr>
        <p:spPr>
          <a:xfrm>
            <a:off x="457200" y="393192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98%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Accuracy</a:t>
            </a:r>
            <a:endParaRPr lang="en-US" sz="2800" dirty="0"/>
          </a:p>
        </p:txBody>
      </p:sp>
      <p:sp>
        <p:nvSpPr>
          <p:cNvPr id="18" name="Metric 2"/>
          <p:cNvSpPr txBox="1"/>
          <p:nvPr/>
        </p:nvSpPr>
        <p:spPr>
          <a:xfrm>
            <a:off x="2560320" y="393192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96%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Precision</a:t>
            </a:r>
            <a:endParaRPr lang="en-US" sz="2800" dirty="0"/>
          </a:p>
        </p:txBody>
      </p:sp>
      <p:sp>
        <p:nvSpPr>
          <p:cNvPr id="19" name="Metric 3"/>
          <p:cNvSpPr txBox="1"/>
          <p:nvPr/>
        </p:nvSpPr>
        <p:spPr>
          <a:xfrm>
            <a:off x="4663440" y="393192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94%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Recall</a:t>
            </a:r>
            <a:endParaRPr lang="en-US" sz="2800" dirty="0"/>
          </a:p>
        </p:txBody>
      </p:sp>
      <p:sp>
        <p:nvSpPr>
          <p:cNvPr id="20" name="Metric 4"/>
          <p:cNvSpPr txBox="1"/>
          <p:nvPr/>
        </p:nvSpPr>
        <p:spPr>
          <a:xfrm>
            <a:off x="6766560" y="393192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0.95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F1 Score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AI Root Cause Analysis &amp; Blast Radius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When an incident occurs, DataPulse AI answers two vital questions in seconds</a:t>
            </a:r>
            <a:endParaRPr lang="en-US" sz="1400" dirty="0"/>
          </a:p>
        </p:txBody>
      </p:sp>
      <p:sp>
        <p:nvSpPr>
          <p:cNvPr id="4" name="Column 1 Header"/>
          <p:cNvSpPr txBox="1"/>
          <p:nvPr/>
        </p:nvSpPr>
        <p:spPr>
          <a:xfrm>
            <a:off x="457200" y="1371600"/>
            <a:ext cx="402336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5240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1. Why did this happen? (Root Cause)</a:t>
            </a:r>
            <a:endParaRPr lang="en-US" sz="1500" dirty="0"/>
          </a:p>
        </p:txBody>
      </p:sp>
      <p:sp>
        <p:nvSpPr>
          <p:cNvPr id="5" name="Column 1 Card"/>
          <p:cNvSpPr/>
          <p:nvPr/>
        </p:nvSpPr>
        <p:spPr>
          <a:xfrm>
            <a:off x="457200" y="1828800"/>
            <a:ext cx="402336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olumn 1 Body"/>
          <p:cNvSpPr txBox="1"/>
          <p:nvPr/>
        </p:nvSpPr>
        <p:spPr>
          <a:xfrm>
            <a:off x="640080" y="1965960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Correlates run metrics against 14-day Exasol statistical baselines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Detects upstream producer failures (e.g. Customer Master Data failed 15 minutes prior)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Generates actionable, context-aware remediation checklists</a:t>
            </a:r>
            <a:endParaRPr lang="en-US" sz="1400" dirty="0"/>
          </a:p>
        </p:txBody>
      </p:sp>
      <p:sp>
        <p:nvSpPr>
          <p:cNvPr id="7" name="Column 2 Header"/>
          <p:cNvSpPr txBox="1"/>
          <p:nvPr/>
        </p:nvSpPr>
        <p:spPr>
          <a:xfrm>
            <a:off x="4663440" y="1371600"/>
            <a:ext cx="4023360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5240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2. Who is affected? (Blast Radius)</a:t>
            </a:r>
            <a:endParaRPr lang="en-US" sz="1500" dirty="0"/>
          </a:p>
        </p:txBody>
      </p:sp>
      <p:sp>
        <p:nvSpPr>
          <p:cNvPr id="8" name="Column 2 Card"/>
          <p:cNvSpPr/>
          <p:nvPr/>
        </p:nvSpPr>
        <p:spPr>
          <a:xfrm>
            <a:off x="4663440" y="1828800"/>
            <a:ext cx="402336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lumn 2 Body"/>
          <p:cNvSpPr txBox="1"/>
          <p:nvPr/>
        </p:nvSpPr>
        <p:spPr>
          <a:xfrm>
            <a:off x="4846320" y="1965960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Computes the downstream dependency tree via breadth-first search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Maps technical pipelines to business assets (Executive Revenue Dashboard, CFO Flash Report)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Assigns a weighted Total Impact Score (0–100)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Interactive Live Demo Scenarios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Judges can test the platform live with 3 realistic operational disaster scenarios</a:t>
            </a:r>
            <a:endParaRPr lang="en-US" sz="1400" dirty="0"/>
          </a:p>
        </p:txBody>
      </p:sp>
      <p:graphicFrame>
        <p:nvGraphicFramePr>
          <p:cNvPr id="9" name="Scenario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71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Injected Failure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Exasol Tables Updated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Observed System Impact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1. Missing Data Crisis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8,420 null fields; completeness drops to 68.5%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PIPELINE_RUNS, DATA_QUALITY, INCIDENTS, PREDICTION_RESULTS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HIGH incident raised on Customer Order ETL; Anomaly Radar flags data drop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2. Pipeline Runtime Delay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Runtime surges to 780s (+420%), 94.8% CPU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PIPELINE_RUNS, DATA_QUALITY, INCIDENTS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Freshness SLA breach on Inventory Sync; resource throttling explained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3. Upstream Root Failure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18 schema mismatches in root CRM sync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PIPELINE_RUNS, DATA_QUALITY, INCIDENTS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CRITICAL alert cascades downstream; Blast Radius maps revenue impact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set Note"/>
          <p:cNvSpPr txBox="1"/>
          <p:nvPr/>
        </p:nvSpPr>
        <p:spPr>
          <a:xfrm>
            <a:off x="457200" y="4526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Includes a deterministic 1-click Reset Demo button to restore Exasol to its pristine state.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Business Value &amp; ROI</a:t>
            </a:r>
            <a:endParaRPr lang="en-US" sz="28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Stat 1 Number"/>
          <p:cNvSpPr txBox="1"/>
          <p:nvPr/>
        </p:nvSpPr>
        <p:spPr>
          <a:xfrm>
            <a:off x="640080" y="128016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90%</a:t>
            </a:r>
            <a:endParaRPr lang="en-US" sz="4400" dirty="0"/>
          </a:p>
        </p:txBody>
      </p:sp>
      <p:sp>
        <p:nvSpPr>
          <p:cNvPr id="5" name="Stat 1 Text"/>
          <p:cNvSpPr txBox="1"/>
          <p:nvPr/>
        </p:nvSpPr>
        <p:spPr>
          <a:xfrm>
            <a:off x="2103120" y="128016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Reduction in Mean Time to Detect (MTTD)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Proactive anomaly radar catches data degradation before downstream users report broken dashboards.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tat 2 Number"/>
          <p:cNvSpPr txBox="1"/>
          <p:nvPr/>
        </p:nvSpPr>
        <p:spPr>
          <a:xfrm>
            <a:off x="4846320" y="128016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80%</a:t>
            </a:r>
            <a:endParaRPr lang="en-US" sz="4400" dirty="0"/>
          </a:p>
        </p:txBody>
      </p:sp>
      <p:sp>
        <p:nvSpPr>
          <p:cNvPr id="8" name="Stat 2 Text"/>
          <p:cNvSpPr txBox="1"/>
          <p:nvPr/>
        </p:nvSpPr>
        <p:spPr>
          <a:xfrm>
            <a:off x="6309360" y="128016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Reduction in Mean Time to Resolve (MTTR)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Automated evidence synthesis eliminates hours of log hunting.</a:t>
            </a:r>
            <a:endParaRPr lang="en-US" sz="1400" dirty="0"/>
          </a:p>
        </p:txBody>
      </p:sp>
      <p:sp>
        <p:nvSpPr>
          <p:cNvPr id="9" name="Value Card 1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Value 1 Title"/>
          <p:cNvSpPr txBox="1"/>
          <p:nvPr/>
        </p:nvSpPr>
        <p:spPr>
          <a:xfrm>
            <a:off x="640080" y="3090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Protection of Revenue-Critical Analytics</a:t>
            </a:r>
            <a:endParaRPr lang="en-US" sz="1600" dirty="0"/>
          </a:p>
        </p:txBody>
      </p:sp>
      <p:sp>
        <p:nvSpPr>
          <p:cNvPr id="11" name="Value 1 Body"/>
          <p:cNvSpPr txBox="1"/>
          <p:nvPr/>
        </p:nvSpPr>
        <p:spPr>
          <a:xfrm>
            <a:off x="640080" y="3520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Executive BI and financial closing pipelines are shielded with predictive blast radius warnings.</a:t>
            </a:r>
            <a:endParaRPr lang="en-US" sz="1400" dirty="0"/>
          </a:p>
        </p:txBody>
      </p:sp>
      <p:sp>
        <p:nvSpPr>
          <p:cNvPr id="12" name="Value Card 2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Value 2 Title"/>
          <p:cNvSpPr txBox="1"/>
          <p:nvPr/>
        </p:nvSpPr>
        <p:spPr>
          <a:xfrm>
            <a:off x="4846320" y="3090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Compliance &amp; Governance</a:t>
            </a:r>
            <a:endParaRPr lang="en-US" sz="1600" dirty="0"/>
          </a:p>
        </p:txBody>
      </p:sp>
      <p:sp>
        <p:nvSpPr>
          <p:cNvPr id="14" name="Value 2 Body"/>
          <p:cNvSpPr txBox="1"/>
          <p:nvPr/>
        </p:nvSpPr>
        <p:spPr>
          <a:xfrm>
            <a:off x="4846320" y="3520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full immutable operator audit trail in Exasol satisfies enterprise SOC2 and regulatory requirements.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Conclusion &amp; Open Source Heritage</a:t>
            </a:r>
            <a:endParaRPr lang="en-US" sz="2800" dirty="0"/>
          </a:p>
        </p:txBody>
      </p:sp>
      <p:sp>
        <p:nvSpPr>
          <p:cNvPr id="3" name="Compliance Heading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100% Hackathon Compliant</a:t>
            </a:r>
            <a:endParaRPr lang="en-US" sz="2000" dirty="0"/>
          </a:p>
        </p:txBody>
      </p:sp>
      <p:sp>
        <p:nvSpPr>
          <p:cNvPr id="4" name="Check Dot 1"/>
          <p:cNvSpPr/>
          <p:nvPr/>
        </p:nvSpPr>
        <p:spPr>
          <a:xfrm>
            <a:off x="457200" y="1691640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ompliance Point 1"/>
          <p:cNvSpPr txBox="1"/>
          <p:nvPr/>
        </p:nvSpPr>
        <p:spPr>
          <a:xfrm>
            <a:off x="914400" y="160020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Mandatory Exasol Personal used exclusively</a:t>
            </a:r>
            <a:endParaRPr lang="en-US" sz="1600" dirty="0"/>
          </a:p>
        </p:txBody>
      </p:sp>
      <p:sp>
        <p:nvSpPr>
          <p:cNvPr id="6" name="Check Dot 2"/>
          <p:cNvSpPr/>
          <p:nvPr/>
        </p:nvSpPr>
        <p:spPr>
          <a:xfrm>
            <a:off x="457200" y="2258568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ompliance Point 2"/>
          <p:cNvSpPr txBox="1"/>
          <p:nvPr/>
        </p:nvSpPr>
        <p:spPr>
          <a:xfrm>
            <a:off x="914400" y="21671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Zero proprietary data; 100% reproducible synthetic generator</a:t>
            </a:r>
            <a:endParaRPr lang="en-US" sz="1600" dirty="0"/>
          </a:p>
        </p:txBody>
      </p:sp>
      <p:sp>
        <p:nvSpPr>
          <p:cNvPr id="8" name="Check Dot 3"/>
          <p:cNvSpPr/>
          <p:nvPr/>
        </p:nvSpPr>
        <p:spPr>
          <a:xfrm>
            <a:off x="457200" y="2825496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ompliance Point 3"/>
          <p:cNvSpPr txBox="1"/>
          <p:nvPr/>
        </p:nvSpPr>
        <p:spPr>
          <a:xfrm>
            <a:off x="914400" y="273405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MIT Open Source License</a:t>
            </a:r>
            <a:endParaRPr lang="en-US" sz="1600" dirty="0"/>
          </a:p>
        </p:txBody>
      </p:sp>
      <p:sp>
        <p:nvSpPr>
          <p:cNvPr id="10" name="Check Dot 4"/>
          <p:cNvSpPr/>
          <p:nvPr/>
        </p:nvSpPr>
        <p:spPr>
          <a:xfrm>
            <a:off x="457200" y="339242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Compliance Point 4"/>
          <p:cNvSpPr txBox="1"/>
          <p:nvPr/>
        </p:nvSpPr>
        <p:spPr>
          <a:xfrm>
            <a:off x="914400" y="330098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Comprehensive documentation, automated test suite (15/15 passing) and pitch materials</a:t>
            </a:r>
            <a:endParaRPr lang="en-US" sz="1600" dirty="0"/>
          </a:p>
        </p:txBody>
      </p:sp>
      <p:sp>
        <p:nvSpPr>
          <p:cNvPr id="12" name="Closing Tagline"/>
          <p:cNvSpPr txBox="1"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DataPulse AI — Predict failures. Explain incidents. Protect business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Pulse Professional">
  <a:themeElements>
    <a:clrScheme name="DataPulse Professional">
      <a:dk1>
        <a:srgbClr val="1B2A41"/>
      </a:dk1>
      <a:lt1>
        <a:srgbClr val="FFFFFF"/>
      </a:lt1>
      <a:dk2>
        <a:srgbClr val="0B2545"/>
      </a:dk2>
      <a:lt2>
        <a:srgbClr val="EEF2F7"/>
      </a:lt2>
      <a:accent1>
        <a:srgbClr val="0F7C8A"/>
      </a:accent1>
      <a:accent2>
        <a:srgbClr val="0B2545"/>
      </a:accent2>
      <a:accent3>
        <a:srgbClr val="D97706"/>
      </a:accent3>
      <a:accent4>
        <a:srgbClr val="B91C1C"/>
      </a:accent4>
      <a:accent5>
        <a:srgbClr val="5B6B7F"/>
      </a:accent5>
      <a:accent6>
        <a:srgbClr val="16A34A"/>
      </a:accent6>
      <a:hlink>
        <a:srgbClr val="0F7C8A"/>
      </a:hlink>
      <a:folHlink>
        <a:srgbClr val="5B6B7F"/>
      </a:folHlink>
    </a:clrScheme>
    <a:fontScheme name="DataPulse Profession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929</Words>
  <Application>Microsoft Office PowerPoint</Application>
  <PresentationFormat>On-screen Show (16:9)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DataPulse Professional</vt:lpstr>
      <vt:lpstr>DataPulse AI</vt:lpstr>
      <vt:lpstr>The Problem — The Silent Pipeline Crisis</vt:lpstr>
      <vt:lpstr>The Solution — DataPulse AI</vt:lpstr>
      <vt:lpstr>Why Exasol Personal?</vt:lpstr>
      <vt:lpstr>Core Architecture &amp; Data Flow</vt:lpstr>
      <vt:lpstr>Machine Learning &amp; Intelligence Engine</vt:lpstr>
      <vt:lpstr>AI Root Cause Analysis &amp; Blast Radius</vt:lpstr>
      <vt:lpstr>Interactive Live Demo Scenarios</vt:lpstr>
      <vt:lpstr>Business Value &amp; ROI</vt:lpstr>
      <vt:lpstr>Conclusion &amp; Open Source Heritage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DataPulse AI</dc:title>
  <dc:subject>PptxGenJS Presentation</dc:subject>
  <dc:creator>DataPulse AI</dc:creator>
  <cp:lastModifiedBy>santhanakumar S</cp:lastModifiedBy>
  <cp:revision>2</cp:revision>
  <dcterms:created xsi:type="dcterms:W3CDTF">2026-10-25T06:47:58Z</dcterms:created>
  <dcterms:modified xsi:type="dcterms:W3CDTF">2026-10-25T06:51:55Z</dcterms:modified>
</cp:coreProperties>
</file>